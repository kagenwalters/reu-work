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99FF"/>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20" d="100"/>
          <a:sy n="20" d="100"/>
        </p:scale>
        <p:origin x="104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gen Walters" userId="c3dd7dd73167baf3" providerId="LiveId" clId="{4C3E2D68-2848-4716-90EE-2AD5EB61EC18}"/>
    <pc:docChg chg="modSld">
      <pc:chgData name="Kagen Walters" userId="c3dd7dd73167baf3" providerId="LiveId" clId="{4C3E2D68-2848-4716-90EE-2AD5EB61EC18}" dt="2022-08-02T21:45:05.797" v="4" actId="1076"/>
      <pc:docMkLst>
        <pc:docMk/>
      </pc:docMkLst>
      <pc:sldChg chg="modSp mod">
        <pc:chgData name="Kagen Walters" userId="c3dd7dd73167baf3" providerId="LiveId" clId="{4C3E2D68-2848-4716-90EE-2AD5EB61EC18}" dt="2022-08-02T21:45:05.797" v="4" actId="1076"/>
        <pc:sldMkLst>
          <pc:docMk/>
          <pc:sldMk cId="924088041" sldId="256"/>
        </pc:sldMkLst>
        <pc:spChg chg="mod">
          <ac:chgData name="Kagen Walters" userId="c3dd7dd73167baf3" providerId="LiveId" clId="{4C3E2D68-2848-4716-90EE-2AD5EB61EC18}" dt="2022-08-02T21:45:05.797" v="4" actId="1076"/>
          <ac:spMkLst>
            <pc:docMk/>
            <pc:sldMk cId="924088041" sldId="256"/>
            <ac:spMk id="18" creationId="{D9CC992D-DCA6-AD75-AC7C-CA6E68CEDE21}"/>
          </ac:spMkLst>
        </pc:spChg>
        <pc:picChg chg="mod">
          <ac:chgData name="Kagen Walters" userId="c3dd7dd73167baf3" providerId="LiveId" clId="{4C3E2D68-2848-4716-90EE-2AD5EB61EC18}" dt="2022-08-02T21:44:58.069" v="3" actId="1076"/>
          <ac:picMkLst>
            <pc:docMk/>
            <pc:sldMk cId="924088041" sldId="256"/>
            <ac:picMk id="35" creationId="{3EE9586F-CEF8-717F-5A53-D1C9DAAC57B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569281-0937-4134-891C-EF42D780B305}" type="datetimeFigureOut">
              <a:rPr lang="en-US" smtClean="0"/>
              <a:t>8/2/2022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1468345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569281-0937-4134-891C-EF42D780B305}" type="datetimeFigureOut">
              <a:rPr lang="en-US" smtClean="0"/>
              <a:t>8/2/2022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3954877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569281-0937-4134-891C-EF42D780B305}" type="datetimeFigureOut">
              <a:rPr lang="en-US" smtClean="0"/>
              <a:t>8/2/2022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94831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569281-0937-4134-891C-EF42D780B305}" type="datetimeFigureOut">
              <a:rPr lang="en-US" smtClean="0"/>
              <a:t>8/2/2022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151868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569281-0937-4134-891C-EF42D780B305}" type="datetimeFigureOut">
              <a:rPr lang="en-US" smtClean="0"/>
              <a:t>8/2/2022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3973703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569281-0937-4134-891C-EF42D780B305}" type="datetimeFigureOut">
              <a:rPr lang="en-US" smtClean="0"/>
              <a:t>8/2/2022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1702006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569281-0937-4134-891C-EF42D780B305}" type="datetimeFigureOut">
              <a:rPr lang="en-US" smtClean="0"/>
              <a:t>8/2/2022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3810965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D2569281-0937-4134-891C-EF42D780B305}" type="datetimeFigureOut">
              <a:rPr lang="en-US" smtClean="0"/>
              <a:t>8/2/2022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664915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D2569281-0937-4134-891C-EF42D780B305}" type="datetimeFigureOut">
              <a:rPr lang="en-US" smtClean="0"/>
              <a:t>8/2/2022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2325150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569281-0937-4134-891C-EF42D780B305}" type="datetimeFigureOut">
              <a:rPr lang="en-US" smtClean="0"/>
              <a:t>8/2/2022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3187009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569281-0937-4134-891C-EF42D780B305}" type="datetimeFigureOut">
              <a:rPr lang="en-US" smtClean="0"/>
              <a:t>8/2/2022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E011A-A3E4-4953-87DF-13D8879FDCB8}" type="slidenum">
              <a:rPr lang="en-US" smtClean="0"/>
              <a:t>‹#›</a:t>
            </a:fld>
            <a:endParaRPr lang="en-US"/>
          </a:p>
        </p:txBody>
      </p:sp>
    </p:spTree>
    <p:extLst>
      <p:ext uri="{BB962C8B-B14F-4D97-AF65-F5344CB8AC3E}">
        <p14:creationId xmlns:p14="http://schemas.microsoft.com/office/powerpoint/2010/main" val="2267790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D2569281-0937-4134-891C-EF42D780B305}" type="datetimeFigureOut">
              <a:rPr lang="en-US" smtClean="0"/>
              <a:t>8/2/2022</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FA1E011A-A3E4-4953-87DF-13D8879FDCB8}" type="slidenum">
              <a:rPr lang="en-US" smtClean="0"/>
              <a:t>‹#›</a:t>
            </a:fld>
            <a:endParaRPr lang="en-US"/>
          </a:p>
        </p:txBody>
      </p:sp>
    </p:spTree>
    <p:extLst>
      <p:ext uri="{BB962C8B-B14F-4D97-AF65-F5344CB8AC3E}">
        <p14:creationId xmlns:p14="http://schemas.microsoft.com/office/powerpoint/2010/main" val="15871799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64E99B9-23C8-474A-A2B2-0C69C1CCD8FB}"/>
              </a:ext>
            </a:extLst>
          </p:cNvPr>
          <p:cNvSpPr/>
          <p:nvPr/>
        </p:nvSpPr>
        <p:spPr>
          <a:xfrm>
            <a:off x="952500" y="914400"/>
            <a:ext cx="41986200" cy="457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02CA091-A703-257A-DE84-BBFE21890F78}"/>
              </a:ext>
            </a:extLst>
          </p:cNvPr>
          <p:cNvSpPr/>
          <p:nvPr/>
        </p:nvSpPr>
        <p:spPr>
          <a:xfrm>
            <a:off x="952500" y="6400800"/>
            <a:ext cx="11925300" cy="1905000"/>
          </a:xfrm>
          <a:prstGeom prst="rect">
            <a:avLst/>
          </a:prstGeom>
          <a:solidFill>
            <a:srgbClr val="6699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Times New Roman" panose="02020603050405020304" pitchFamily="18" charset="0"/>
                <a:cs typeface="Times New Roman" panose="02020603050405020304" pitchFamily="18" charset="0"/>
              </a:rPr>
              <a:t>Overview</a:t>
            </a:r>
          </a:p>
        </p:txBody>
      </p:sp>
      <p:sp>
        <p:nvSpPr>
          <p:cNvPr id="17" name="Rectangle 16">
            <a:extLst>
              <a:ext uri="{FF2B5EF4-FFF2-40B4-BE49-F238E27FC236}">
                <a16:creationId xmlns:a16="http://schemas.microsoft.com/office/drawing/2014/main" id="{86AFDD85-C753-DE0E-382F-7AD4F3D4BD50}"/>
              </a:ext>
            </a:extLst>
          </p:cNvPr>
          <p:cNvSpPr/>
          <p:nvPr/>
        </p:nvSpPr>
        <p:spPr>
          <a:xfrm>
            <a:off x="15582900" y="6400800"/>
            <a:ext cx="12763500" cy="1905000"/>
          </a:xfrm>
          <a:prstGeom prst="rect">
            <a:avLst/>
          </a:prstGeom>
          <a:solidFill>
            <a:srgbClr val="6699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latin typeface="Times New Roman" panose="02020603050405020304" pitchFamily="18" charset="0"/>
                <a:cs typeface="Times New Roman" panose="02020603050405020304" pitchFamily="18" charset="0"/>
              </a:rPr>
              <a:t>Results</a:t>
            </a:r>
          </a:p>
        </p:txBody>
      </p:sp>
      <p:sp>
        <p:nvSpPr>
          <p:cNvPr id="18" name="Rectangle 17">
            <a:extLst>
              <a:ext uri="{FF2B5EF4-FFF2-40B4-BE49-F238E27FC236}">
                <a16:creationId xmlns:a16="http://schemas.microsoft.com/office/drawing/2014/main" id="{D9CC992D-DCA6-AD75-AC7C-CA6E68CEDE21}"/>
              </a:ext>
            </a:extLst>
          </p:cNvPr>
          <p:cNvSpPr/>
          <p:nvPr/>
        </p:nvSpPr>
        <p:spPr>
          <a:xfrm>
            <a:off x="31013400" y="16421100"/>
            <a:ext cx="11887200" cy="1905000"/>
          </a:xfrm>
          <a:prstGeom prst="rect">
            <a:avLst/>
          </a:prstGeom>
          <a:solidFill>
            <a:srgbClr val="6699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latin typeface="Times New Roman" panose="02020603050405020304" pitchFamily="18" charset="0"/>
                <a:cs typeface="Times New Roman" panose="02020603050405020304" pitchFamily="18" charset="0"/>
              </a:rPr>
              <a:t>Conclusions</a:t>
            </a:r>
          </a:p>
        </p:txBody>
      </p:sp>
      <p:sp>
        <p:nvSpPr>
          <p:cNvPr id="21" name="Rectangle 20">
            <a:extLst>
              <a:ext uri="{FF2B5EF4-FFF2-40B4-BE49-F238E27FC236}">
                <a16:creationId xmlns:a16="http://schemas.microsoft.com/office/drawing/2014/main" id="{3ECDA5F6-64EA-6C21-C5D9-28EA94BE3910}"/>
              </a:ext>
            </a:extLst>
          </p:cNvPr>
          <p:cNvSpPr/>
          <p:nvPr/>
        </p:nvSpPr>
        <p:spPr>
          <a:xfrm>
            <a:off x="31051500" y="23698200"/>
            <a:ext cx="11887200" cy="1905000"/>
          </a:xfrm>
          <a:prstGeom prst="rect">
            <a:avLst/>
          </a:prstGeom>
          <a:solidFill>
            <a:srgbClr val="6699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latin typeface="Times New Roman" panose="02020603050405020304" pitchFamily="18" charset="0"/>
                <a:cs typeface="Times New Roman" panose="02020603050405020304" pitchFamily="18" charset="0"/>
              </a:rPr>
              <a:t>References</a:t>
            </a:r>
          </a:p>
        </p:txBody>
      </p:sp>
      <p:sp>
        <p:nvSpPr>
          <p:cNvPr id="22" name="Rectangle 21">
            <a:extLst>
              <a:ext uri="{FF2B5EF4-FFF2-40B4-BE49-F238E27FC236}">
                <a16:creationId xmlns:a16="http://schemas.microsoft.com/office/drawing/2014/main" id="{F692B4C2-D552-681E-F404-3ACDE36F3F7B}"/>
              </a:ext>
            </a:extLst>
          </p:cNvPr>
          <p:cNvSpPr/>
          <p:nvPr/>
        </p:nvSpPr>
        <p:spPr>
          <a:xfrm>
            <a:off x="952500" y="15049500"/>
            <a:ext cx="11925300" cy="1905000"/>
          </a:xfrm>
          <a:prstGeom prst="rect">
            <a:avLst/>
          </a:prstGeom>
          <a:solidFill>
            <a:srgbClr val="6699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Times New Roman" panose="02020603050405020304" pitchFamily="18" charset="0"/>
                <a:cs typeface="Times New Roman" panose="02020603050405020304" pitchFamily="18" charset="0"/>
              </a:rPr>
              <a:t>Background and Aim</a:t>
            </a:r>
          </a:p>
        </p:txBody>
      </p:sp>
      <p:sp>
        <p:nvSpPr>
          <p:cNvPr id="23" name="Rectangle 22">
            <a:extLst>
              <a:ext uri="{FF2B5EF4-FFF2-40B4-BE49-F238E27FC236}">
                <a16:creationId xmlns:a16="http://schemas.microsoft.com/office/drawing/2014/main" id="{96D6B15D-1805-7D86-3207-9CBB5C465CD4}"/>
              </a:ext>
            </a:extLst>
          </p:cNvPr>
          <p:cNvSpPr/>
          <p:nvPr/>
        </p:nvSpPr>
        <p:spPr>
          <a:xfrm>
            <a:off x="914401" y="22212301"/>
            <a:ext cx="11925300" cy="1905000"/>
          </a:xfrm>
          <a:prstGeom prst="rect">
            <a:avLst/>
          </a:prstGeom>
          <a:solidFill>
            <a:srgbClr val="6699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Times New Roman" panose="02020603050405020304" pitchFamily="18" charset="0"/>
                <a:cs typeface="Times New Roman" panose="02020603050405020304" pitchFamily="18" charset="0"/>
              </a:rPr>
              <a:t>Methodology</a:t>
            </a:r>
          </a:p>
        </p:txBody>
      </p:sp>
      <p:pic>
        <p:nvPicPr>
          <p:cNvPr id="25" name="Picture 24" descr="Logo, company name&#10;&#10;Description automatically generated">
            <a:extLst>
              <a:ext uri="{FF2B5EF4-FFF2-40B4-BE49-F238E27FC236}">
                <a16:creationId xmlns:a16="http://schemas.microsoft.com/office/drawing/2014/main" id="{7E499218-5ECF-53C1-E0FA-531E465A6F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66700" y="914401"/>
            <a:ext cx="4572000" cy="4572000"/>
          </a:xfrm>
          <a:prstGeom prst="rect">
            <a:avLst/>
          </a:prstGeom>
        </p:spPr>
      </p:pic>
      <p:sp>
        <p:nvSpPr>
          <p:cNvPr id="27" name="TextBox 26">
            <a:extLst>
              <a:ext uri="{FF2B5EF4-FFF2-40B4-BE49-F238E27FC236}">
                <a16:creationId xmlns:a16="http://schemas.microsoft.com/office/drawing/2014/main" id="{DF950039-45D6-7879-4BCA-E94BDF7B0713}"/>
              </a:ext>
            </a:extLst>
          </p:cNvPr>
          <p:cNvSpPr txBox="1"/>
          <p:nvPr/>
        </p:nvSpPr>
        <p:spPr>
          <a:xfrm>
            <a:off x="1866900" y="1015186"/>
            <a:ext cx="35661600" cy="4370427"/>
          </a:xfrm>
          <a:prstGeom prst="rect">
            <a:avLst/>
          </a:prstGeom>
          <a:noFill/>
        </p:spPr>
        <p:txBody>
          <a:bodyPr wrap="square" rtlCol="0">
            <a:spAutoFit/>
          </a:bodyPr>
          <a:lstStyle/>
          <a:p>
            <a:pPr algn="ctr"/>
            <a:r>
              <a:rPr lang="en-US" sz="9800" dirty="0">
                <a:solidFill>
                  <a:srgbClr val="6699FF"/>
                </a:solidFill>
                <a:latin typeface="Lucida Bright" panose="02040602050505020304" pitchFamily="18" charset="0"/>
                <a:cs typeface="David" panose="020E0502060401010101" pitchFamily="34" charset="-79"/>
              </a:rPr>
              <a:t>Nominal County GDP’s Influence on Surrounding Counties</a:t>
            </a:r>
          </a:p>
          <a:p>
            <a:pPr algn="ctr"/>
            <a:endParaRPr lang="en-US" sz="6000" dirty="0">
              <a:latin typeface="Times New Roman" panose="02020603050405020304" pitchFamily="18" charset="0"/>
              <a:cs typeface="Times New Roman" panose="02020603050405020304" pitchFamily="18" charset="0"/>
            </a:endParaRPr>
          </a:p>
          <a:p>
            <a:pPr algn="ctr"/>
            <a:r>
              <a:rPr lang="en-US" sz="6000" dirty="0">
                <a:latin typeface="Times New Roman" panose="02020603050405020304" pitchFamily="18" charset="0"/>
                <a:cs typeface="Times New Roman" panose="02020603050405020304" pitchFamily="18" charset="0"/>
              </a:rPr>
              <a:t>Priyanka Davis | priyanka.shrestha@ndus.edu | Dickinson State University</a:t>
            </a:r>
          </a:p>
          <a:p>
            <a:pPr algn="ctr"/>
            <a:r>
              <a:rPr lang="en-US" sz="6000" dirty="0">
                <a:latin typeface="Times New Roman" panose="02020603050405020304" pitchFamily="18" charset="0"/>
                <a:cs typeface="Times New Roman" panose="02020603050405020304" pitchFamily="18" charset="0"/>
              </a:rPr>
              <a:t>Nicholas Walters | nicholas_walters3@outlook.com | Eastern Kentucky University</a:t>
            </a:r>
          </a:p>
        </p:txBody>
      </p:sp>
      <p:sp>
        <p:nvSpPr>
          <p:cNvPr id="28" name="TextBox 27">
            <a:extLst>
              <a:ext uri="{FF2B5EF4-FFF2-40B4-BE49-F238E27FC236}">
                <a16:creationId xmlns:a16="http://schemas.microsoft.com/office/drawing/2014/main" id="{A79BE506-9456-B989-B51F-A0F31DCB5E83}"/>
              </a:ext>
            </a:extLst>
          </p:cNvPr>
          <p:cNvSpPr txBox="1"/>
          <p:nvPr/>
        </p:nvSpPr>
        <p:spPr>
          <a:xfrm>
            <a:off x="38442900" y="4800838"/>
            <a:ext cx="4572000" cy="707886"/>
          </a:xfrm>
          <a:prstGeom prst="rect">
            <a:avLst/>
          </a:prstGeom>
          <a:noFill/>
        </p:spPr>
        <p:txBody>
          <a:bodyPr wrap="square" rtlCol="0">
            <a:spAutoFit/>
          </a:bodyPr>
          <a:lstStyle/>
          <a:p>
            <a:r>
              <a:rPr lang="en-US" sz="4000" b="0" i="0" dirty="0">
                <a:solidFill>
                  <a:schemeClr val="bg1"/>
                </a:solidFill>
                <a:effectLst/>
                <a:latin typeface="Calibri" panose="020F0502020204030204" pitchFamily="34" charset="0"/>
              </a:rPr>
              <a:t>www.aisustein.com</a:t>
            </a:r>
            <a:endParaRPr lang="en-US" sz="4000" dirty="0">
              <a:solidFill>
                <a:schemeClr val="bg1"/>
              </a:solidFill>
            </a:endParaRPr>
          </a:p>
        </p:txBody>
      </p:sp>
      <p:sp>
        <p:nvSpPr>
          <p:cNvPr id="29" name="TextBox 28">
            <a:extLst>
              <a:ext uri="{FF2B5EF4-FFF2-40B4-BE49-F238E27FC236}">
                <a16:creationId xmlns:a16="http://schemas.microsoft.com/office/drawing/2014/main" id="{8968CCAD-5E2B-20E0-BC25-DBFD8E86E5EB}"/>
              </a:ext>
            </a:extLst>
          </p:cNvPr>
          <p:cNvSpPr txBox="1"/>
          <p:nvPr/>
        </p:nvSpPr>
        <p:spPr>
          <a:xfrm>
            <a:off x="31089600" y="26517600"/>
            <a:ext cx="11925300" cy="5909310"/>
          </a:xfrm>
          <a:prstGeom prst="rect">
            <a:avLst/>
          </a:prstGeom>
          <a:noFill/>
        </p:spPr>
        <p:txBody>
          <a:bodyPr wrap="square" rtlCol="0">
            <a:spAutoFit/>
          </a:bodyPr>
          <a:lstStyle/>
          <a:p>
            <a:pPr indent="-457200"/>
            <a:r>
              <a:rPr lang="en-US" sz="3600" dirty="0">
                <a:effectLst/>
                <a:latin typeface="Times New Roman" panose="02020603050405020304" pitchFamily="18" charset="0"/>
                <a:cs typeface="Times New Roman" panose="02020603050405020304" pitchFamily="18" charset="0"/>
              </a:rPr>
              <a:t>Heiss, F., &amp; Brunner, D. T. (2020). </a:t>
            </a:r>
            <a:r>
              <a:rPr lang="en-US" sz="3600" i="1" dirty="0">
                <a:effectLst/>
                <a:latin typeface="Times New Roman" panose="02020603050405020304" pitchFamily="18" charset="0"/>
                <a:cs typeface="Times New Roman" panose="02020603050405020304" pitchFamily="18" charset="0"/>
              </a:rPr>
              <a:t>Using python for 	introductory econometrics</a:t>
            </a:r>
            <a:r>
              <a:rPr lang="en-US" sz="3600" dirty="0">
                <a:effectLst/>
                <a:latin typeface="Times New Roman" panose="02020603050405020304" pitchFamily="18" charset="0"/>
                <a:cs typeface="Times New Roman" panose="02020603050405020304" pitchFamily="18" charset="0"/>
              </a:rPr>
              <a:t> (1st ed.). Florian Heiss, Daniel 	Brunner. </a:t>
            </a:r>
          </a:p>
          <a:p>
            <a:pPr indent="-457200"/>
            <a:endParaRPr lang="en-US" sz="3600" dirty="0">
              <a:effectLst/>
              <a:latin typeface="Times New Roman" panose="02020603050405020304" pitchFamily="18" charset="0"/>
              <a:cs typeface="Times New Roman" panose="02020603050405020304" pitchFamily="18" charset="0"/>
            </a:endParaRPr>
          </a:p>
          <a:p>
            <a:pPr indent="-457200"/>
            <a:r>
              <a:rPr lang="en-US" sz="3600" dirty="0">
                <a:effectLst/>
                <a:latin typeface="Times New Roman" panose="02020603050405020304" pitchFamily="18" charset="0"/>
                <a:cs typeface="Times New Roman" panose="02020603050405020304" pitchFamily="18" charset="0"/>
              </a:rPr>
              <a:t>Lewin, P., &amp; </a:t>
            </a:r>
            <a:r>
              <a:rPr lang="en-US" sz="3600" dirty="0" err="1">
                <a:effectLst/>
                <a:latin typeface="Times New Roman" panose="02020603050405020304" pitchFamily="18" charset="0"/>
                <a:cs typeface="Times New Roman" panose="02020603050405020304" pitchFamily="18" charset="0"/>
              </a:rPr>
              <a:t>Cachanosky</a:t>
            </a:r>
            <a:r>
              <a:rPr lang="en-US" sz="3600" dirty="0">
                <a:effectLst/>
                <a:latin typeface="Times New Roman" panose="02020603050405020304" pitchFamily="18" charset="0"/>
                <a:cs typeface="Times New Roman" panose="02020603050405020304" pitchFamily="18" charset="0"/>
              </a:rPr>
              <a:t> </a:t>
            </a:r>
            <a:r>
              <a:rPr lang="en-US" sz="3600" dirty="0" err="1">
                <a:effectLst/>
                <a:latin typeface="Times New Roman" panose="02020603050405020304" pitchFamily="18" charset="0"/>
                <a:cs typeface="Times New Roman" panose="02020603050405020304" pitchFamily="18" charset="0"/>
              </a:rPr>
              <a:t>Nicolás</a:t>
            </a:r>
            <a:r>
              <a:rPr lang="en-US" sz="3600" dirty="0">
                <a:effectLst/>
                <a:latin typeface="Times New Roman" panose="02020603050405020304" pitchFamily="18" charset="0"/>
                <a:cs typeface="Times New Roman" panose="02020603050405020304" pitchFamily="18" charset="0"/>
              </a:rPr>
              <a:t>. (2019). </a:t>
            </a:r>
            <a:r>
              <a:rPr lang="en-US" sz="3600" i="1" dirty="0">
                <a:effectLst/>
                <a:latin typeface="Times New Roman" panose="02020603050405020304" pitchFamily="18" charset="0"/>
                <a:cs typeface="Times New Roman" panose="02020603050405020304" pitchFamily="18" charset="0"/>
              </a:rPr>
              <a:t>Austrian Capital 	theory: A modern survey of the Essentials</a:t>
            </a:r>
            <a:r>
              <a:rPr lang="en-US" sz="3600" dirty="0">
                <a:effectLst/>
                <a:latin typeface="Times New Roman" panose="02020603050405020304" pitchFamily="18" charset="0"/>
                <a:cs typeface="Times New Roman" panose="02020603050405020304" pitchFamily="18" charset="0"/>
              </a:rPr>
              <a:t>. Cambridge 	University Press. </a:t>
            </a:r>
          </a:p>
          <a:p>
            <a:pPr indent="-457200"/>
            <a:endParaRPr lang="en-US" sz="3600" dirty="0">
              <a:effectLst/>
              <a:latin typeface="Times New Roman" panose="02020603050405020304" pitchFamily="18" charset="0"/>
              <a:cs typeface="Times New Roman" panose="02020603050405020304" pitchFamily="18" charset="0"/>
            </a:endParaRPr>
          </a:p>
          <a:p>
            <a:pPr indent="-457200"/>
            <a:r>
              <a:rPr lang="en-US" sz="3600" dirty="0">
                <a:effectLst/>
                <a:latin typeface="Times New Roman" panose="02020603050405020304" pitchFamily="18" charset="0"/>
                <a:cs typeface="Times New Roman" panose="02020603050405020304" pitchFamily="18" charset="0"/>
              </a:rPr>
              <a:t>Wooldridge, J. M. (2020). </a:t>
            </a:r>
            <a:r>
              <a:rPr lang="en-US" sz="3600" i="1" dirty="0">
                <a:effectLst/>
                <a:latin typeface="Times New Roman" panose="02020603050405020304" pitchFamily="18" charset="0"/>
                <a:cs typeface="Times New Roman" panose="02020603050405020304" pitchFamily="18" charset="0"/>
              </a:rPr>
              <a:t>Introductory econometrics: A 	modern approach</a:t>
            </a:r>
            <a:r>
              <a:rPr lang="en-US" sz="3600" dirty="0">
                <a:effectLst/>
                <a:latin typeface="Times New Roman" panose="02020603050405020304" pitchFamily="18" charset="0"/>
                <a:cs typeface="Times New Roman" panose="02020603050405020304" pitchFamily="18" charset="0"/>
              </a:rPr>
              <a:t> (7th ed.). Cengage. </a:t>
            </a:r>
          </a:p>
          <a:p>
            <a:pPr indent="-457200"/>
            <a:endParaRPr lang="en-US" dirty="0"/>
          </a:p>
        </p:txBody>
      </p:sp>
      <p:sp>
        <p:nvSpPr>
          <p:cNvPr id="31" name="TextBox 30">
            <a:extLst>
              <a:ext uri="{FF2B5EF4-FFF2-40B4-BE49-F238E27FC236}">
                <a16:creationId xmlns:a16="http://schemas.microsoft.com/office/drawing/2014/main" id="{4B552A5B-38DF-F181-DA20-F8166D229555}"/>
              </a:ext>
            </a:extLst>
          </p:cNvPr>
          <p:cNvSpPr txBox="1"/>
          <p:nvPr/>
        </p:nvSpPr>
        <p:spPr>
          <a:xfrm>
            <a:off x="952500" y="8686740"/>
            <a:ext cx="11925300" cy="4524315"/>
          </a:xfrm>
          <a:prstGeom prst="rect">
            <a:avLst/>
          </a:prstGeom>
          <a:noFill/>
        </p:spPr>
        <p:txBody>
          <a:bodyPr wrap="square" rtlCol="0">
            <a:spAutoFit/>
          </a:bodyPr>
          <a:lstStyle/>
          <a:p>
            <a:r>
              <a:rPr lang="en-US" sz="3600" dirty="0"/>
              <a:t>Nominal GDP is an indicator of the economic production resulting from inputs and outputs of the production process. The aim of this study was to use Austrian Capital Theory to show the influence that consumption and energy inputs have on county level GDP. A fixed effects regression model was used to measure the volatility of the GDP and GeoPandas was used to map the impact that inputs had on other surrounding counties…</a:t>
            </a:r>
          </a:p>
        </p:txBody>
      </p:sp>
      <p:sp>
        <p:nvSpPr>
          <p:cNvPr id="32" name="TextBox 31">
            <a:extLst>
              <a:ext uri="{FF2B5EF4-FFF2-40B4-BE49-F238E27FC236}">
                <a16:creationId xmlns:a16="http://schemas.microsoft.com/office/drawing/2014/main" id="{52C01A37-DC42-18DF-B522-482A0515B013}"/>
              </a:ext>
            </a:extLst>
          </p:cNvPr>
          <p:cNvSpPr txBox="1"/>
          <p:nvPr/>
        </p:nvSpPr>
        <p:spPr>
          <a:xfrm>
            <a:off x="952500" y="17373600"/>
            <a:ext cx="11925300" cy="2062103"/>
          </a:xfrm>
          <a:prstGeom prst="rect">
            <a:avLst/>
          </a:prstGeom>
          <a:noFill/>
        </p:spPr>
        <p:txBody>
          <a:bodyPr wrap="square" rtlCol="0">
            <a:spAutoFit/>
          </a:bodyPr>
          <a:lstStyle/>
          <a:p>
            <a:pPr marL="457200" indent="-457200">
              <a:buFontTx/>
              <a:buChar char="-"/>
            </a:pPr>
            <a:r>
              <a:rPr lang="en-US" sz="3200" dirty="0"/>
              <a:t>Talk about Austrian Capital Theory and the idea behind John Hick’s ACT framework</a:t>
            </a:r>
          </a:p>
          <a:p>
            <a:pPr marL="457200" indent="-457200">
              <a:buFontTx/>
              <a:buChar char="-"/>
            </a:pPr>
            <a:r>
              <a:rPr lang="en-US" sz="3200" dirty="0"/>
              <a:t>Explain the application on the GDP data set we are working with</a:t>
            </a:r>
          </a:p>
          <a:p>
            <a:pPr marL="457200" indent="-457200">
              <a:buFontTx/>
              <a:buChar char="-"/>
            </a:pPr>
            <a:r>
              <a:rPr lang="en-US" sz="3200" dirty="0"/>
              <a:t>- How can conclusions based on this lead to important results?</a:t>
            </a:r>
          </a:p>
        </p:txBody>
      </p:sp>
      <p:sp>
        <p:nvSpPr>
          <p:cNvPr id="33" name="TextBox 32">
            <a:extLst>
              <a:ext uri="{FF2B5EF4-FFF2-40B4-BE49-F238E27FC236}">
                <a16:creationId xmlns:a16="http://schemas.microsoft.com/office/drawing/2014/main" id="{54FD24E3-C3E2-201F-E981-7F08A635E268}"/>
              </a:ext>
            </a:extLst>
          </p:cNvPr>
          <p:cNvSpPr txBox="1"/>
          <p:nvPr/>
        </p:nvSpPr>
        <p:spPr>
          <a:xfrm>
            <a:off x="952500" y="24455497"/>
            <a:ext cx="11849101" cy="7971413"/>
          </a:xfrm>
          <a:prstGeom prst="rect">
            <a:avLst/>
          </a:prstGeom>
          <a:noFill/>
        </p:spPr>
        <p:txBody>
          <a:bodyPr wrap="square" rtlCol="0">
            <a:spAutoFit/>
          </a:bodyPr>
          <a:lstStyle/>
          <a:p>
            <a:r>
              <a:rPr lang="en-US" sz="3200" dirty="0"/>
              <a:t>- Imported BEA county GDP data for the years 2001 to 2020</a:t>
            </a:r>
          </a:p>
          <a:p>
            <a:pPr marL="457200" indent="-457200">
              <a:buFontTx/>
              <a:buChar char="-"/>
            </a:pPr>
            <a:r>
              <a:rPr lang="en-US" sz="3200" dirty="0"/>
              <a:t>Isolated variables that focused on inputs related to energy and consumption</a:t>
            </a:r>
          </a:p>
          <a:p>
            <a:pPr marL="914400" lvl="1" indent="-457200">
              <a:buFontTx/>
              <a:buChar char="-"/>
            </a:pPr>
            <a:r>
              <a:rPr lang="en-US" sz="3200" dirty="0"/>
              <a:t>Utilities</a:t>
            </a:r>
          </a:p>
          <a:p>
            <a:pPr marL="914400" lvl="1" indent="-457200">
              <a:buFontTx/>
              <a:buChar char="-"/>
            </a:pPr>
            <a:r>
              <a:rPr lang="en-US" sz="3200" dirty="0"/>
              <a:t>Agriculture</a:t>
            </a:r>
          </a:p>
          <a:p>
            <a:pPr marL="914400" lvl="1" indent="-457200">
              <a:buFontTx/>
              <a:buChar char="-"/>
            </a:pPr>
            <a:r>
              <a:rPr lang="en-US" sz="3200" dirty="0"/>
              <a:t>Mining</a:t>
            </a:r>
          </a:p>
          <a:p>
            <a:pPr marL="457200" indent="-457200">
              <a:buFontTx/>
              <a:buChar char="-"/>
            </a:pPr>
            <a:r>
              <a:rPr lang="en-US" sz="3200" dirty="0"/>
              <a:t>Created a Data Frame with a 3-year moving average of the variables in the data set, which allowed us to remove short-term influences within such inputs</a:t>
            </a:r>
          </a:p>
          <a:p>
            <a:pPr marL="457200" indent="-457200">
              <a:buFontTx/>
              <a:buChar char="-"/>
            </a:pPr>
            <a:r>
              <a:rPr lang="en-US" sz="3200" dirty="0"/>
              <a:t>We logged and differenced variables with a 1-year time shift, which allowed us to measure the percentage of the volatility of the data.</a:t>
            </a:r>
          </a:p>
          <a:p>
            <a:pPr marL="457200" indent="-457200">
              <a:buFontTx/>
              <a:buChar char="-"/>
            </a:pPr>
            <a:r>
              <a:rPr lang="en-US" sz="3200" dirty="0"/>
              <a:t>Generated maps with GeoPandas which indicated the measure of volatility among each county and its surrounding influences</a:t>
            </a:r>
          </a:p>
          <a:p>
            <a:pPr marL="457200" indent="-457200">
              <a:buFontTx/>
              <a:buChar char="-"/>
            </a:pPr>
            <a:r>
              <a:rPr lang="en-US" sz="3200" dirty="0"/>
              <a:t>- Employed a Two-Way fixed effects model that took into account each of the variables mentioned above as well as a 1-year lag that measured the influence of past GDP values.</a:t>
            </a:r>
          </a:p>
        </p:txBody>
      </p:sp>
      <p:pic>
        <p:nvPicPr>
          <p:cNvPr id="1032" name="Picture 8">
            <a:extLst>
              <a:ext uri="{FF2B5EF4-FFF2-40B4-BE49-F238E27FC236}">
                <a16:creationId xmlns:a16="http://schemas.microsoft.com/office/drawing/2014/main" id="{93050064-DF43-6C9A-0938-C5048E6F1A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04281" y="11626377"/>
            <a:ext cx="13482638" cy="685564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Table&#10;&#10;Description automatically generated">
            <a:extLst>
              <a:ext uri="{FF2B5EF4-FFF2-40B4-BE49-F238E27FC236}">
                <a16:creationId xmlns:a16="http://schemas.microsoft.com/office/drawing/2014/main" id="{3EE9586F-CEF8-717F-5A53-D1C9DAAC57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89810" y="22439270"/>
            <a:ext cx="8035382" cy="9987640"/>
          </a:xfrm>
          <a:prstGeom prst="rect">
            <a:avLst/>
          </a:prstGeom>
        </p:spPr>
      </p:pic>
    </p:spTree>
    <p:extLst>
      <p:ext uri="{BB962C8B-B14F-4D97-AF65-F5344CB8AC3E}">
        <p14:creationId xmlns:p14="http://schemas.microsoft.com/office/powerpoint/2010/main" val="9240880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6262</TotalTime>
  <Words>368</Words>
  <Application>Microsoft Office PowerPoint</Application>
  <PresentationFormat>Custom</PresentationFormat>
  <Paragraphs>29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Lucida Bright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Kagen Walters</dc:creator>
  <cp:lastModifiedBy>Kagen Walters</cp:lastModifiedBy>
  <cp:revision>1</cp:revision>
  <dcterms:created xsi:type="dcterms:W3CDTF">2022-07-29T13:11:42Z</dcterms:created>
  <dcterms:modified xsi:type="dcterms:W3CDTF">2022-08-02T21:45:06Z</dcterms:modified>
</cp:coreProperties>
</file>